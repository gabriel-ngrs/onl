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49824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6A5"/>
                </a:solidFill>
              </a:rPr>
              <a:t>Otimização Não Linear — UFPB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Regressão Logística 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4A35A"/>
                </a:solidFill>
              </a:rPr>
              <a:t>Otimização Não 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8896A5"/>
                </a:solidFill>
              </a:rPr>
              <a:t>Previsão de Inadimplência de Crédito Bancário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54680"/>
            <a:ext cx="11185855" cy="36576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A35A"/>
                </a:solidFill>
              </a:rPr>
              <a:t>Integrantes: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Gabriel Negreiros Saraiva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93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Júlia Moraes da Silva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611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Luiz Eduardo de Almeida Siqueira Silva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657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Paulo Victor Cordeiro Rufino de Araújo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9593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Pedro Lucas Simões Cabral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96128"/>
            <a:ext cx="609584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Prof. Felipe A. G. Moreno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" cy="65836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Tópicos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9961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B3A"/>
                </a:solidFill>
              </a:rPr>
              <a:t>Introdução e Formulação do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132588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896A5"/>
                </a:solidFill>
              </a:rPr>
              <a:t>Paulo Victor Cordeiro Rufino de Araújo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11185855" cy="13716"/>
          </a:xfrm>
          <a:prstGeom prst="rect">
            <a:avLst/>
          </a:prstGeom>
          <a:solidFill>
            <a:srgbClr val="CF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64008" cy="658368"/>
          </a:xfrm>
          <a:prstGeom prst="rect">
            <a:avLst/>
          </a:prstGeom>
          <a:solidFill>
            <a:srgbClr val="2D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B48"/>
                </a:solidFill>
              </a:rPr>
              <a:t>Tópico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1401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B3A"/>
                </a:solidFill>
              </a:rPr>
              <a:t>Resolução Matemática do 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695" y="224028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896A5"/>
                </a:solidFill>
              </a:rPr>
              <a:t>Júlia Moraes da Silva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11185855" cy="13716"/>
          </a:xfrm>
          <a:prstGeom prst="rect">
            <a:avLst/>
          </a:prstGeom>
          <a:solidFill>
            <a:srgbClr val="CF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17520"/>
            <a:ext cx="64008" cy="658368"/>
          </a:xfrm>
          <a:prstGeom prst="rect">
            <a:avLst/>
          </a:prstGeom>
          <a:solidFill>
            <a:srgbClr val="1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17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A48"/>
                </a:solidFill>
              </a:rPr>
              <a:t>Tópico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2841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B3A"/>
                </a:solidFill>
              </a:rPr>
              <a:t>Metodologia de Otimização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695" y="315468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896A5"/>
                </a:solidFill>
              </a:rPr>
              <a:t>Pedro Lucas Simões Cabral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94760"/>
            <a:ext cx="11185855" cy="13716"/>
          </a:xfrm>
          <a:prstGeom prst="rect">
            <a:avLst/>
          </a:prstGeom>
          <a:solidFill>
            <a:srgbClr val="CF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31920"/>
            <a:ext cx="64008" cy="658368"/>
          </a:xfrm>
          <a:prstGeom prst="rect">
            <a:avLst/>
          </a:prstGeom>
          <a:solidFill>
            <a:srgbClr val="1C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319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82A"/>
                </a:solidFill>
              </a:rPr>
              <a:t>Tópico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4281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B3A"/>
                </a:solidFill>
              </a:rPr>
              <a:t>Implementação, Treino e Balanceamento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9695" y="406908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896A5"/>
                </a:solidFill>
              </a:rPr>
              <a:t>Luiz Eduardo de Almeida Siqueira Silva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09160"/>
            <a:ext cx="11185855" cy="13716"/>
          </a:xfrm>
          <a:prstGeom prst="rect">
            <a:avLst/>
          </a:prstGeom>
          <a:solidFill>
            <a:srgbClr val="CF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846320"/>
            <a:ext cx="64008" cy="658368"/>
          </a:xfrm>
          <a:prstGeom prst="rect">
            <a:avLst/>
          </a:prstGeom>
          <a:solidFill>
            <a:srgbClr val="3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846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1C1C"/>
                </a:solidFill>
              </a:rPr>
              <a:t>Tópico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5721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B3A"/>
                </a:solidFill>
              </a:rPr>
              <a:t>Resultados, Gráficos e Conclusão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9695" y="498348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896A5"/>
                </a:solidFill>
              </a:rPr>
              <a:t>Gabriel Negreiros Saraiva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35A"/>
                </a:solidFill>
              </a:rPr>
              <a:t>Tópicos 1 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Introdução e Formulação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do Problema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66160"/>
            <a:ext cx="2286000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Contexto, Dataset e Formulação Matemática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Apresenta:  Paulo Victor Cordeiro Rufino de Araújo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Introdução — Contexto e Motivação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Paulo Victor Cordeiro Rufino de Araújo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5349240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34440"/>
            <a:ext cx="502005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3A"/>
                </a:solidFill>
              </a:rPr>
              <a:t>O Problema Real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Bancos precisam decidir a quem conceder crédito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Inadimplência gera prejuízos financeiros significativos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Modelos preditivos reduzem o risco na concessão de crédito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5349240" cy="1325880"/>
          </a:xfrm>
          <a:prstGeom prst="rect">
            <a:avLst/>
          </a:prstGeom>
          <a:solidFill>
            <a:srgbClr val="FB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926080"/>
            <a:ext cx="50200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3A"/>
                </a:solidFill>
              </a:rPr>
              <a:t>O Custo de Errar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Falso Negativo: prevê "pagará" → cliente inadimple → banco perde dinheiro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Falso Positivo: prevê "inadimplirá" → bom cliente rejeitado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39496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234440"/>
            <a:ext cx="5065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3A"/>
                </a:solidFill>
              </a:rPr>
              <a:t>Nossa Abordagem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Formular o treinamento como otimização não linear:
  θ* = argmin L(θ)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Comparar empiricamente dois algoritmos:
  Gradiente Descendente vs. Método de Newton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Avaliar o desempenho preditivo no conjunto de teste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291840"/>
            <a:ext cx="539496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6A5"/>
                </a:solidFill>
              </a:rPr>
              <a:t>Pergunta central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C2B3A"/>
                </a:solidFill>
              </a:rPr>
              <a:t>"Qual algoritmo converge mais rápido
e com melhor qualidade de solução?"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 Dataset — Crédito Bancário (UFPB)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Paulo Victor Cordeiro Rufino de Araújo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2286000" cy="1234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B3A"/>
                </a:solidFill>
              </a:rPr>
              <a:t>10.128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6A5"/>
                </a:solidFill>
              </a:rPr>
              <a:t>clientes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3512" y="1097280"/>
            <a:ext cx="2286000" cy="1234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117043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B3A"/>
                </a:solidFill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1783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6A5"/>
                </a:solidFill>
              </a:rPr>
              <a:t>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4104" y="1097280"/>
            <a:ext cx="2286000" cy="1234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4104" y="117043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B3A"/>
                </a:solidFill>
              </a:rPr>
              <a:t>16 %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1783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6A5"/>
                </a:solidFill>
              </a:rPr>
              <a:t>inadimplência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688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</a:rPr>
              <a:t>Variáveis do 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16352"/>
            <a:ext cx="5943600" cy="37490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62072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Identificação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2862072"/>
            <a:ext cx="4206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id  — descartado no treinamento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91256"/>
            <a:ext cx="59436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36976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Demográficas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5688" y="3236976"/>
            <a:ext cx="4206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idade, sexo, nº dependentes, escolaridade, estado civil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566160"/>
            <a:ext cx="5943600" cy="37490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611880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Financeiras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5688" y="3611880"/>
            <a:ext cx="4206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salário anual, limite de crédito, valor transações (12 meses)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41064"/>
            <a:ext cx="59436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986784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Comportamentais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5688" y="3986784"/>
            <a:ext cx="4206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tipo de cartão, meses como cliente, qtd. produtos, meses inativo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315968"/>
            <a:ext cx="5943600" cy="37490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361688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Alvo  (target)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75688" y="4361688"/>
            <a:ext cx="4206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default:  0 = adimplente  ·  1 = inadimplente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468880"/>
            <a:ext cx="5029200" cy="1920240"/>
          </a:xfrm>
          <a:prstGeom prst="rect">
            <a:avLst/>
          </a:prstGeom>
          <a:solidFill>
            <a:srgbClr val="FB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2606040"/>
            <a:ext cx="47000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B3A"/>
                </a:solidFill>
              </a:rPr>
              <a:t>⚠  Desequilíbrio de Classes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84 % adimplentes  ·  16 % inadimplentes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Modelo que sempre diz "vai pagar" → 84 % de acurácia sem aprender nada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Solução: SMOTE para balancear o conjunto de treino (Tópico 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Formulação como Problema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Paulo Victor Cordeiro Rufino de Araújo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2B3A"/>
                </a:solidFill>
              </a:rPr>
              <a:t>Treinar regressão logística equivale a resolver: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11185855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4533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C2B3A"/>
                </a:solidFill>
              </a:rPr>
              <a:t>θ*  =  argmin  L(θ)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521208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Gradiente Descendente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521208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834640"/>
            <a:ext cx="48828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Usa somente ∇L(θ)  — primeira derivada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Direção de descida:  d  =  −∇L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Convergência linear:  O(κ(H)) iterações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Custo por iteração:  O(n·p)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331720"/>
            <a:ext cx="521208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377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Método de Newton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697480"/>
            <a:ext cx="521208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2834640"/>
            <a:ext cx="48828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Usa ∇L(θ) e H(θ)  — 1ª e 2ª derivadas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Direção:  (H + εI) · d  =  −∇L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Convergência quadrática:  O(log 1/ε) iters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Custo por iteração:  O(n·p² + p³)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63440"/>
            <a:ext cx="11185855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81728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6A5"/>
                </a:solidFill>
              </a:rPr>
              <a:t>Ambos utilizam busca em linha exata para determinar o passo ótimo α* a cada iteração.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35A"/>
                </a:solidFill>
              </a:rPr>
              <a:t>Tópico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Matemática do Problema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66160"/>
            <a:ext cx="2286000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Modelo Logístico, Função de Perda e Convexidade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Apresenta:  Júlia Moraes da Silva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Modelo de Regressão Logística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Júlia Moraes da Silva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Função Sigmoide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411480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83080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3A"/>
                </a:solidFill>
              </a:rPr>
              <a:t>σ(z) 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517904"/>
            <a:ext cx="29992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C2B3A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968246"/>
            <a:ext cx="2633472" cy="32004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020824"/>
            <a:ext cx="29992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C2B3A"/>
                </a:solidFill>
              </a:rPr>
              <a:t>1  +  e⁻ᶻ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06040"/>
            <a:ext cx="411480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42616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C2B3A"/>
                </a:solidFill>
              </a:rPr>
              <a:t>ŷ  =  σ(Xθ)  ∈  (0, 1)ⁿ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383280"/>
            <a:ext cx="378561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Mapeia qualquer valor real → probabilidade ∈ (0, 1)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σ(0) = 0.5  →  modelo totalmente incerto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z → +∞  →  σ → 1  (certeza de inadimplência)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z → −∞  →  σ → 0  (certeza de pagamento)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Derivada:  σ'(z)  =  σ(z) · (1 − σ(z))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097280"/>
            <a:ext cx="4114800" cy="33832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732520" y="1097280"/>
            <a:ext cx="2971800" cy="3383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188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</a:rPr>
              <a:t>Notação Matricial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600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X  ∈  ℝⁿˣ⁽ᵖ⁺¹⁾  — n amostras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011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θ  ∈  ℝᵖ⁺¹  — bias + pesos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423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ŷ  =  σ(Xθ)  ∈  (0,1)ⁿ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8346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Coluna de 1s → bias θ₀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2004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p + 1  =  31 parâmetros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Função de Perda — Cross-Entropy com Regularização 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Júlia Moraes da Silva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1185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6A5"/>
                </a:solidFill>
              </a:rPr>
              <a:t>Objetivo a minimizar: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37160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3736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3A"/>
                </a:solidFill>
              </a:rPr>
              <a:t>L(θ)  =  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1517904"/>
            <a:ext cx="-128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C2B3A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75688" y="1922526"/>
            <a:ext cx="-493776" cy="32004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92808" y="1975104"/>
            <a:ext cx="-128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C2B3A"/>
                </a:solidFill>
              </a:rPr>
              <a:t>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20" y="1481328"/>
            <a:ext cx="9814255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1517904"/>
            <a:ext cx="9814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2B3A"/>
                </a:solidFill>
              </a:rPr>
              <a:t>Σᵢ  [  yᵢ · log(σ(xᵢᵀθ))  +  (1 − yᵢ) · log(1 − σ(xᵢᵀθ)) 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50592"/>
            <a:ext cx="548640" cy="5303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8716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C2B3A"/>
                </a:solidFill>
              </a:rPr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450592"/>
            <a:ext cx="1097280" cy="5303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487168"/>
            <a:ext cx="87782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C2B3A"/>
                </a:solidFill>
              </a:rPr>
              <a:t>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" y="2699766"/>
            <a:ext cx="512064" cy="32004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752344"/>
            <a:ext cx="87782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C2B3A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55648" y="2450592"/>
            <a:ext cx="1645920" cy="5303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55648" y="248716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C2B3A"/>
                </a:solidFill>
              </a:rPr>
              <a:t>·  ‖θ₁:‖²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54680"/>
            <a:ext cx="5486400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Termo 1 — Cross-Entropy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502152"/>
            <a:ext cx="548640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639312"/>
            <a:ext cx="51572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Derivado da máxima verossimilhança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yᵢ = 1 e ŷᵢ ≈ 1  →  penalidade ≈ 0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yᵢ = 1 e ŷᵢ ≈ 0  →  penalidade → ∞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Preserva a convexidade de L(θ)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MSE tornaria L não-convexa (múltiplos mínimos)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154680"/>
            <a:ext cx="5486400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200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Termo 2 — Regularização L2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502152"/>
            <a:ext cx="5486400" cy="1828800"/>
          </a:xfrm>
          <a:prstGeom prst="rect">
            <a:avLst/>
          </a:prstGeom>
          <a:solidFill>
            <a:srgbClr val="FB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639312"/>
            <a:ext cx="51572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Penaliza pesos θ grandes: evita overfitting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λ = 0.01: penalidade pequena, mas eficaz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Bias θ₀ não é regularizado  (convenção)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λ → ∞:  todos os pesos → 0  (modelo inútil)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λ = 0:  sem restrição → possível overfitting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394960"/>
            <a:ext cx="11185855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4315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6A5"/>
                </a:solidFill>
              </a:rPr>
              <a:t>L(θ₀=0)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39" y="54315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</a:rPr>
              <a:t>≈  0.69  =  log(2)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399" y="54315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6A5"/>
                </a:solidFill>
              </a:rPr>
              <a:t>λ adotado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8" y="54315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</a:rPr>
              <a:t>0.01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38" y="54315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6A5"/>
                </a:solidFill>
              </a:rPr>
              <a:t>‖∇L(θ₀)‖ inicial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17" y="54315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</a:rPr>
              <a:t>0.39  (dados normalizados)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Gradiente, Hessiana e Convexidade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Júlia Moraes da Silva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5349240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Gradiente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90472"/>
            <a:ext cx="1188720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723644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B3A"/>
                </a:solidFill>
              </a:rPr>
              <a:t>∇L(θ)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527048"/>
            <a:ext cx="73152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B3A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1908810"/>
            <a:ext cx="-292608" cy="32004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961388"/>
            <a:ext cx="73152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B3A"/>
                </a:solidFill>
              </a:rPr>
              <a:t>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1490472"/>
            <a:ext cx="4160520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1527048"/>
            <a:ext cx="4160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2B3A"/>
                </a:solidFill>
              </a:rPr>
              <a:t>Xᵀ(ŷ − y)  +  λ · [0, θ₁, …, θₚ]ᵀ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560320"/>
            <a:ext cx="5020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(ŷ − y): vetor de erros — previsão menos realidade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Xᵀ(ŷ−y)/n projeta os erros no espaço dos parâmetros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No ótimo: ∇L(θ*) = 0  (condição de primeira ordem)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5349240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Hessiana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50791"/>
            <a:ext cx="1188720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283963"/>
            <a:ext cx="768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B3A"/>
                </a:solidFill>
              </a:rPr>
              <a:t>H(θ) 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0744" y="4087367"/>
            <a:ext cx="201168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B3A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63624" y="4469129"/>
            <a:ext cx="-164592" cy="32004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0744" y="4521707"/>
            <a:ext cx="201168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B3A"/>
                </a:solidFill>
              </a:rPr>
              <a:t>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4050791"/>
            <a:ext cx="4160520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1640" y="4087367"/>
            <a:ext cx="4160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2B3A"/>
                </a:solidFill>
              </a:rPr>
              <a:t>XᵀWX  +  λ · diag(0, 1, 1, …, 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097280"/>
            <a:ext cx="534924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14300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Prova de Convexidade  —  H(θ) ≽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490472"/>
            <a:ext cx="53492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527048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B3A"/>
                </a:solidFill>
              </a:rPr>
              <a:t>vᵀ H(θ) v  =  Σᵢ ŷᵢ(1−ŷᵢ)·(xᵢᵀv)²  +  λ ‖v₁:‖²  ≥ 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331720"/>
            <a:ext cx="5020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ŷᵢ(1−ŷᵢ) &gt; 0  para todo ŷᵢ ∈ (0,1)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(xᵢᵀv)² ≥ 0  por ser quadrado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λ‖v₁:‖² ≥ 0  com λ &gt; 0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Portanto  H(θ) ≽ 0  ⟹  L(θ) é globalmente convexa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94760"/>
            <a:ext cx="5349240" cy="1965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587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✔  Consequência Prática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325112"/>
            <a:ext cx="50200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Nenhum mínimo local — qualquer mínimo é global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GD e Newton sempre convergem ao mesmo θ*,
   independente do ponto de partida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κ(H) = 12.2  com normalização z-score
   (era ~14 bilhões sem normalização!)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35A"/>
                </a:solidFill>
              </a:rPr>
              <a:t>Tópico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de Otimização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66160"/>
            <a:ext cx="2286000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Gradiente Descendente, Newton e Busca em Linha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Apresenta:  Pedro Lucas Simões Cabral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Fluxo Geral da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Pedro Lucas Simões Cabral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1185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2B3A"/>
                </a:solidFill>
              </a:rPr>
              <a:t>GD e Newton seguem o mesmo esqueleto — a diferença está na direção d: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6583680" cy="4251960"/>
          </a:xfrm>
          <a:prstGeom prst="rect">
            <a:avLst/>
          </a:prstGeom>
          <a:solidFill>
            <a:srgbClr val="161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73352"/>
            <a:ext cx="6254496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θ  ←  zeros(p + 1)         # inicialização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para k = 1, 2, …, tmax: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g ← ∇L(θ)              # gradiente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se  ‖g‖ &lt; 1e-6:  PARAR  # convergência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d ← direção(g, H)       # ← única diferença entre GD e Newton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f(α) ← L(θ + α · d)    # função 1D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[a, b] ← bracketing(f)  # intervalo com o mínimo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α*  ← secao_aurea(f, a, b)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θ ← θ + α* · d         # atualização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54480"/>
            <a:ext cx="2286000" cy="96012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6870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6A5"/>
                </a:solidFill>
              </a:rPr>
              <a:t>tolerância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9979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6A4F"/>
                </a:solidFill>
              </a:rPr>
              <a:t>‖g‖ &lt; 10⁻⁶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554480"/>
            <a:ext cx="210312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68706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6A5"/>
                </a:solidFill>
              </a:rPr>
              <a:t>iter. máximas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99796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B3A"/>
                </a:solidFill>
              </a:rPr>
              <a:t>tmax = 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651760"/>
            <a:ext cx="2240280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999232"/>
            <a:ext cx="224028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0358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B3A"/>
                </a:solidFill>
              </a:rPr>
              <a:t>d  =  −g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651760"/>
            <a:ext cx="224028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Newton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999232"/>
            <a:ext cx="224028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0358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B3A"/>
                </a:solidFill>
              </a:rPr>
              <a:t>(H+εI)·d  =  −g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70448"/>
            <a:ext cx="11185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6A5"/>
                </a:solidFill>
              </a:rPr>
              <a:t>▸  A busca em linha garante que α* maximiza o progresso na direção d — essencial para convergência.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Gradiente Descendente com Busca em Linha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Pedro Lucas Simões Cabral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1118585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33856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C2B3A"/>
                </a:solidFill>
              </a:rPr>
              <a:t>d  =  −∇L(θ)          →          θₖ₊₁  =  θₖ  +  α* · 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65960"/>
            <a:ext cx="49743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3A"/>
                </a:solidFill>
              </a:rPr>
              <a:t>Vantagens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Direção de maior descida local de L(θ)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Apenas ∇L necessário — simples de implementar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Custo por iteração: O(n·p) — escala bem com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5303520" cy="1965960"/>
          </a:xfrm>
          <a:prstGeom prst="rect">
            <a:avLst/>
          </a:prstGeom>
          <a:solidFill>
            <a:srgbClr val="FB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383280"/>
            <a:ext cx="49743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B3A"/>
                </a:solidFill>
              </a:rPr>
              <a:t>Limitações e Taxa de Convergência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Ignora a curvatura: "ziguezague" em vales estreitos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Taxa linear: ‖eₖ₊₁‖ ≤ c · ‖eₖ‖,   c  =  (κ−1)/(κ+1)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Com κ = 12.2:  c ≈ 0.85 → 35 iters até convergir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Sem normalização (κ ≈ 14B):  c ≈ 1 → não converge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5394960" cy="3429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019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Intuição Geométrica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9152"/>
            <a:ext cx="50657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Superfície de perda como paisagem: mínimo = vale mais fundo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d = −g: caminha na direção de maior descida local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Com curvas de nível elípticas, d aponta "para o lado"
   do vale, não para o fundo → ziguezague iterativo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Busca linear: α* otimiza o progresso nessa direção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349240"/>
            <a:ext cx="5394960" cy="77724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3949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✔  Com normalização:  GD convergiu em 35 iters, 0.5 s  (sem normalização: 500 iters, não convergiu)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Método de Newton com Busca em Linha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Pedro Lucas Simões Cabral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1118585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33856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C2B3A"/>
                </a:solidFill>
              </a:rPr>
              <a:t>(H + εI) · d  =  −∇L(θ)          →          θₖ₊₁  =  θₖ  +  α* · 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2240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65960"/>
            <a:ext cx="49743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B3A"/>
                </a:solidFill>
              </a:rPr>
              <a:t>A Ideia Central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Usa H(θ) para incorporar a curvatura local de L(θ)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H⁻¹ "escala" o gradiente por direção: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   · Alta curvatura → passo menor (vale estreito)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   · Baixa curvatura → passo maior (vale largo)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Transforma elipses em círculos → d aponta para θ*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187952"/>
            <a:ext cx="5303520" cy="16002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325112"/>
            <a:ext cx="49743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B3A"/>
                </a:solidFill>
              </a:rPr>
              <a:t>Taxa e Robustez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Convergência quadrática:  ‖eₖ₊₁‖  ≤  c · ‖eₖ‖²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Invariante a κ(H) — curvatura é "cancelada"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np.linalg.solve(H+εI, −g): mais estável que H⁻¹g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Regularização Tikhonov (+εI): garante invertibilidade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512064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6138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6A5"/>
                </a:solidFill>
              </a:rPr>
              <a:t>iterações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722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B3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971800"/>
            <a:ext cx="512064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10438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6A5"/>
                </a:solidFill>
              </a:rPr>
              <a:t>tempo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152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B3A"/>
                </a:solidFill>
              </a:rPr>
              <a:t>0.07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114800"/>
            <a:ext cx="512064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4738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6A5"/>
                </a:solidFill>
              </a:rPr>
              <a:t>‖∇L‖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5582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B3A"/>
                </a:solidFill>
              </a:rPr>
              <a:t>6.5×10⁻⁶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Busca em Linha — Encontrando o Passo Ótimo α*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Pedro Lucas Simões Cabral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33856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C2B3A"/>
                </a:solidFill>
              </a:rPr>
              <a:t>α*  =  argmin  f(α)          onde          f(α)  =  L(θ + α · 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01368"/>
            <a:ext cx="11185855" cy="329184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Etapa 1 — Bracketing:  encontrar [a, b] que contém o mínimo de f(α)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267712"/>
            <a:ext cx="108566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Parte de α=0 e dobra o passo até f(α) começar a crescer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Garante que o mínimo de f está no interior do intervalo [a, b]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53512"/>
            <a:ext cx="11185855" cy="329184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80944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Etapa 2 — Refinamento  (3 métodos implementados)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82696"/>
            <a:ext cx="3566160" cy="347472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1012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Seção Áurea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30168"/>
            <a:ext cx="3566160" cy="210312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767328"/>
            <a:ext cx="32369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Redução por iteração:  φ ≈ 0.618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1 nova avaliação de f por iteração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Reutiliza o ponto anterior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Ótimo para funções unimodais 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282696"/>
            <a:ext cx="3566160" cy="347472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31012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Partição Igual
(Trissecção)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630168"/>
            <a:ext cx="356616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3767328"/>
            <a:ext cx="32369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Redução por iteração:  1/3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2 avaliações de f por iteração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Mais simples de implementar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Menos eficiente que seção áurea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282696"/>
            <a:ext cx="3566160" cy="347472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31012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Ajuste Quadrático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3630168"/>
            <a:ext cx="3566160" cy="2103120"/>
          </a:xfrm>
          <a:prstGeom prst="rect">
            <a:avLst/>
          </a:prstGeom>
          <a:solidFill>
            <a:srgbClr val="FB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3767328"/>
            <a:ext cx="32369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Ajusta parábola em 3 pontos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1 avaliação de f por iteração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Rápido para f suave (quase quadrática)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Instável se denominador ≈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24728"/>
            <a:ext cx="11185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6A5"/>
                </a:solidFill>
              </a:rPr>
              <a:t>→  Todos os métodos são selecionáveis no parâmetro  metodo_busca  da classe RegressaoLogistica.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35A"/>
                </a:solidFill>
              </a:rPr>
              <a:t>Tópico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Implementação,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Treino e Balanceamento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66160"/>
            <a:ext cx="2286000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Código, Pré-processamento, Normalização e SMOTE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Apresenta:  Luiz Eduardo de Almeida Siqueira Silva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Implementação — Classe RegressaoLogistica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Luiz Eduardo de Almeida Siqueira Silva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6858000" cy="3200400"/>
          </a:xfrm>
          <a:prstGeom prst="rect">
            <a:avLst/>
          </a:prstGeom>
          <a:solidFill>
            <a:srgbClr val="161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34440"/>
            <a:ext cx="6528816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modelo = RegressaoLogistica(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metodo_otimizacao = "newton",       # ou "gradiente_descendente"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metodo_busca      = "secao_aurea",   # ou "particao_igual", "ajuste_quadratico"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tmax              = 500,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tolerancia        = 1e-6,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    lambda_           = 0.01,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)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modelo.fit(X_train_scaled, y_train)</a:t>
            </a:r>
          </a:p>
          <a:p>
            <a:pPr algn="l"/>
            <a:r>
              <a:rPr sz="1200">
                <a:solidFill>
                  <a:srgbClr val="A8C7A0"/>
                </a:solidFill>
                <a:latin typeface="Courier New"/>
              </a:rPr>
              <a:t>y_pred = modelo.predict(X_test_scaled)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09728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Atributos após  .fit()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08760"/>
            <a:ext cx="44348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572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</a:rPr>
              <a:t>modelo.w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572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5"/>
                </a:solidFill>
              </a:rPr>
              <a:t>Parâmetros θ* treinados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84248"/>
            <a:ext cx="4434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0482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</a:rPr>
              <a:t>modelo.historico_perda_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0482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5"/>
                </a:solidFill>
              </a:rPr>
              <a:t>Perda L(θ) por iteração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459736"/>
            <a:ext cx="44348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5237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</a:rPr>
              <a:t>modelo.historico_norma_grad_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5237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5"/>
                </a:solidFill>
              </a:rPr>
              <a:t>‖∇L(θ)‖ por iteração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935224"/>
            <a:ext cx="4434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999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</a:rPr>
              <a:t>modelo.historico_alpha_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999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5"/>
                </a:solidFill>
              </a:rPr>
              <a:t>Passo α* por iteração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3410712"/>
            <a:ext cx="44348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474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</a:rPr>
              <a:t>modelo.historico_tempo_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5"/>
                </a:solidFill>
              </a:rPr>
              <a:t>Tempo acumulado (s)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886200"/>
            <a:ext cx="4434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39502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</a:rPr>
              <a:t>modelo.n_iteracoes_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950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6A5"/>
                </a:solidFill>
              </a:rPr>
              <a:t>Total de iterações realizadas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165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6A5"/>
                </a:solidFill>
              </a:rPr>
              <a:t>~530 linhas  ·  Implementação do zero com NumPy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Pré-processamento e Normalização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Luiz Eduardo de Almeida Siqueira Silva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097280"/>
            <a:ext cx="105640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Carregamento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4712" y="1463040"/>
            <a:ext cx="1056406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1490472"/>
            <a:ext cx="1047262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Leitura do CSV com tratamento de NaN e formato numérico brasileiro  (1.234,56 → 1234.56)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86000"/>
            <a:ext cx="502920" cy="5029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286000"/>
            <a:ext cx="105640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One-Hot Encoding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4712" y="2651760"/>
            <a:ext cx="1056406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2" y="2679192"/>
            <a:ext cx="1047262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Variáveis categóricas → colunas binárias  ·  drop_first=True evita multicolinearidade perfeita, que tornaria H singular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74720"/>
            <a:ext cx="502920" cy="5029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74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3474720"/>
            <a:ext cx="105640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Divisão Treino/Teste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4712" y="3840480"/>
            <a:ext cx="1056406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2" y="3867912"/>
            <a:ext cx="1047262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80 % treino  ·  20 % teste  ·  random_state=42  ·  stratify=y  (mantém proporção)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63440"/>
            <a:ext cx="502920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4663440"/>
            <a:ext cx="105640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Normalização Z-Score  ⭐  (correção do Bug #3)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24712" y="5029200"/>
            <a:ext cx="10564063" cy="64008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6152" y="5056632"/>
            <a:ext cx="1047262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X_train_scaled = StandardScaler().fit_transform(X_train)  —  todas as features com média 0 e variância 1  →  κ(H) caiu de ~14 bilhões para 12.2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943600"/>
            <a:ext cx="11185855" cy="50292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980176"/>
            <a:ext cx="1100297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D6A4F"/>
                </a:solidFill>
              </a:rPr>
              <a:t>⭐  Maior impacto técnico do projeto: sem normalização o GD falha; com ela converge em 35 iters. Newton: praticamente insensível (4 → 3 iters).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SMOTE — Balanceamento de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Luiz Eduardo de Almeida Siqueira Silva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5349240" cy="1554480"/>
          </a:xfrm>
          <a:prstGeom prst="rect">
            <a:avLst/>
          </a:prstGeom>
          <a:solidFill>
            <a:srgbClr val="FB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34440"/>
            <a:ext cx="5020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3A"/>
                </a:solidFill>
              </a:rPr>
              <a:t>⚠  O Problema do Desequilíbrio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84 % adimplentes  ·  16 % inadimplentes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Classificador trivial ("sempre paga") → 84 % de acurácia sem aprender nada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C2B3A"/>
                </a:solidFill>
              </a:rPr>
              <a:t>▸  Recall de inadimplentes cai drasticamente sem balanceamento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15768"/>
            <a:ext cx="5349240" cy="329184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Como o SMOTE Funciona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44952"/>
            <a:ext cx="5349240" cy="1737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182112"/>
            <a:ext cx="50200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Para cada amostra da classe minoritária, encontra k vizinhos mais próximos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Gera amostras sintéticas por interpolação linear: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   nova_amostra  =  original  +  λ × (vizinho − original),   λ ∈ [0,1]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Repete até proporção 1:1 no conjunto de treino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46320"/>
            <a:ext cx="5349240" cy="1508760"/>
          </a:xfrm>
          <a:prstGeom prst="rect">
            <a:avLst/>
          </a:prstGeom>
          <a:solidFill>
            <a:srgbClr val="161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983480"/>
            <a:ext cx="5020056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8C7A0"/>
                </a:solidFill>
                <a:latin typeface="Courier New"/>
              </a:rPr>
              <a:t>from imblearn.over_sampling import SMOTE</a:t>
            </a:r>
          </a:p>
          <a:p>
            <a:pPr algn="l"/>
            <a:r>
              <a:rPr sz="1100">
                <a:solidFill>
                  <a:srgbClr val="A8C7A0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A8C7A0"/>
                </a:solidFill>
                <a:latin typeface="Courier New"/>
              </a:rPr>
              <a:t>smote = SMOTE(random_state=42)</a:t>
            </a:r>
          </a:p>
          <a:p>
            <a:pPr algn="l"/>
            <a:r>
              <a:rPr sz="1100">
                <a:solidFill>
                  <a:srgbClr val="A8C7A0"/>
                </a:solidFill>
                <a:latin typeface="Courier New"/>
              </a:rPr>
              <a:t>X_res_np, y_res = smote.fit_resample(</a:t>
            </a:r>
          </a:p>
          <a:p>
            <a:pPr algn="l"/>
            <a:r>
              <a:rPr sz="1100">
                <a:solidFill>
                  <a:srgbClr val="A8C7A0"/>
                </a:solidFill>
                <a:latin typeface="Courier New"/>
              </a:rPr>
              <a:t>    X_train_scaled, y_train  # apenas no treino!</a:t>
            </a:r>
          </a:p>
          <a:p>
            <a:pPr algn="l"/>
            <a:r>
              <a:rPr sz="1100">
                <a:solidFill>
                  <a:srgbClr val="A8C7A0"/>
                </a:solidFill>
                <a:latin typeface="Courier New"/>
              </a:rPr>
              <a:t>)</a:t>
            </a:r>
          </a:p>
          <a:p>
            <a:pPr algn="l"/>
            <a:r>
              <a:rPr sz="1100">
                <a:solidFill>
                  <a:srgbClr val="A8C7A0"/>
                </a:solidFill>
                <a:latin typeface="Courier New"/>
              </a:rPr>
              <a:t># Teste mantém distribuição real → avaliação honesta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394960" cy="5212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234440"/>
            <a:ext cx="5065776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B3A"/>
                </a:solidFill>
              </a:rPr>
              <a:t>Resultados e Cuidados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Treino: balanceado 50 % / 50 % após SMOTE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Teste: distribuição real 84/16 — avaliação honesta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Recall sobe de 29 % → 75 %  (custo: precisão cai de 69 % → 45 %)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1C2B3A"/>
                </a:solidFill>
              </a:rPr>
              <a:t>▸  Amostras sintéticas por interpolação — possível irrealismo
  (limitação conhecida do método)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35A"/>
                </a:solidFill>
              </a:rPr>
              <a:t>Tópico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Resultados,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Gráficos e Conclusão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66160"/>
            <a:ext cx="2286000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Convergência, Métricas, Análise e Conclusões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Apresenta:  Gabriel Negreiros Saraiva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Resultados — Convergência dos Métodos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Gabriel Negreiros Saraiva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182880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97280"/>
            <a:ext cx="201168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1338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GD — original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097280"/>
            <a:ext cx="214884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338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Newton — original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097280"/>
            <a:ext cx="201168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1338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GD — SMOTE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214884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1338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Newton — SMOTE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463040"/>
            <a:ext cx="182880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4996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Iterações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1463040"/>
            <a:ext cx="201168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14996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35 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463040"/>
            <a:ext cx="2148840" cy="36576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49961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3 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63040"/>
            <a:ext cx="201168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4996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50 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463040"/>
            <a:ext cx="2148840" cy="36576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149961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3 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82880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18653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Perda inicial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1828800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18653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0.69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1828800"/>
            <a:ext cx="2148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186537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0.69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828800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8653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0.69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1828800"/>
            <a:ext cx="2148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186537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0.69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194560"/>
            <a:ext cx="182880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22311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Perda final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2194560"/>
            <a:ext cx="201168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0" y="22311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0.3082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2194560"/>
            <a:ext cx="214884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223113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0.3082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194560"/>
            <a:ext cx="201168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22311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0.4245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2194560"/>
            <a:ext cx="214884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223113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0.4245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256032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25968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‖∇L‖ final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31720" y="2560320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77440" y="25968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1×10⁻⁴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2560320"/>
            <a:ext cx="2148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0" y="259689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6.5×10⁻⁶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2560320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25968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1×10⁻⁴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2560320"/>
            <a:ext cx="2148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9640" y="259689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3.5×10⁻⁷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926080"/>
            <a:ext cx="182880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29626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Tempo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31720" y="2926080"/>
            <a:ext cx="201168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77440" y="29626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~0.5 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43400" y="2926080"/>
            <a:ext cx="214884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0" y="29626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~0.07 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2926080"/>
            <a:ext cx="201168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37960" y="29626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~1.3 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926080"/>
            <a:ext cx="214884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9626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~0.09 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32918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33284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Speedup Newton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31720" y="3291840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77440" y="33284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43400" y="3291840"/>
            <a:ext cx="2148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89120" y="332841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~8×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92240" y="3291840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37960" y="33284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03920" y="3291840"/>
            <a:ext cx="2148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49640" y="332841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2B3A"/>
                </a:solidFill>
              </a:rPr>
              <a:t>~14×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3703320"/>
            <a:ext cx="11185855" cy="4572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3749039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✔  κ(H) = 12.2  com normalização z-score   (era ~14 bilhões → GD não convergia em 500 iters)</a:t>
            </a:r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79392"/>
            <a:ext cx="11185855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Avaliação no Conjunto de Teste — Gráficos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Gabriel Negreiros Saraiva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8046720" cy="384048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078992"/>
            <a:ext cx="320040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056632"/>
            <a:ext cx="11185855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93208"/>
            <a:ext cx="1091153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2B3A"/>
                </a:solidFill>
              </a:rPr>
              <a:t>O SMOTE reduz a acurácia (86.5 % → 81.3 %) mas eleva o recall de 29 % para 75 %, identificando muito mais inadimplentes reais.
AUC ≈ 0.87 nos dois casos: excelente capacidade discriminativa.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Métricas Detalhadas — Sem SMOTE vs Com SMOTE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Gabriel Negreiros Saraiva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1417320" cy="493776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5214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097280"/>
            <a:ext cx="1371600" cy="493776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1521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Sem SMOTE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1691640" cy="493776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15214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 SMOTE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097280"/>
            <a:ext cx="6583680" cy="493776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152144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 que mede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91056"/>
            <a:ext cx="141732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636776"/>
            <a:ext cx="1307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Acurácia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1591056"/>
            <a:ext cx="137160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75104" y="1636776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86.5 %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591056"/>
            <a:ext cx="169164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6704" y="1636776"/>
            <a:ext cx="1581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81.3 %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591056"/>
            <a:ext cx="658368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38344" y="1636776"/>
            <a:ext cx="6473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Acertos totais — enganosa com classes desbalanceadas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084832"/>
            <a:ext cx="14173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2130552"/>
            <a:ext cx="1307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Precisão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2084832"/>
            <a:ext cx="13716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75104" y="2130552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68.8 %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2084832"/>
            <a:ext cx="16916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46704" y="2130552"/>
            <a:ext cx="1581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45.1 %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2084832"/>
            <a:ext cx="6583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38344" y="2130552"/>
            <a:ext cx="6473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Dos previstos positivos, qual fração é realmente inadimplente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578608"/>
            <a:ext cx="141732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2624328"/>
            <a:ext cx="1307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Recall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2578608"/>
            <a:ext cx="137160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75104" y="2624328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29.2 %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2578608"/>
            <a:ext cx="1691640" cy="493776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6704" y="2624328"/>
            <a:ext cx="1581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D6A4F"/>
                </a:solidFill>
              </a:rPr>
              <a:t>75.4 %  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2578608"/>
            <a:ext cx="658368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38344" y="2624328"/>
            <a:ext cx="6473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Dos inadimplentes reais, qual fração o modelo capturou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072384"/>
            <a:ext cx="14173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3118104"/>
            <a:ext cx="1307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F1-Score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3072384"/>
            <a:ext cx="13716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75104" y="3118104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41.0 %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3072384"/>
            <a:ext cx="1691640" cy="493776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6704" y="3118104"/>
            <a:ext cx="1581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D6A4F"/>
                </a:solidFill>
              </a:rPr>
              <a:t>56.5 %  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3072384"/>
            <a:ext cx="6583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38344" y="3118104"/>
            <a:ext cx="6473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Média harmônica de Precisão e Recall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566160"/>
            <a:ext cx="141732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" y="3611880"/>
            <a:ext cx="1307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AUC-ROC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3566160"/>
            <a:ext cx="137160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75104" y="3611880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87.3 %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3566160"/>
            <a:ext cx="169164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46704" y="3611880"/>
            <a:ext cx="1581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87.9 %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80" y="3566160"/>
            <a:ext cx="658368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38344" y="3611880"/>
            <a:ext cx="6473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Qualidade do ranking probabilístico  (1.0 = perfeito)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4059936"/>
            <a:ext cx="14173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7784" y="4105656"/>
            <a:ext cx="1307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Threshold ótimo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0240" y="4059936"/>
            <a:ext cx="13716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75104" y="4105656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0.5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0" y="4059936"/>
            <a:ext cx="16916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46704" y="4105656"/>
            <a:ext cx="1581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C2B3A"/>
                </a:solidFill>
              </a:rPr>
              <a:t>0.53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3480" y="4059936"/>
            <a:ext cx="6583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38344" y="4105656"/>
            <a:ext cx="6473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Limiar que maximiza o F1 no conjunto de teste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4983480"/>
            <a:ext cx="11185855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5029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🏦  Perspectiva do Banco: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5340096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2B3A"/>
                </a:solidFill>
              </a:rPr>
              <a:t>O custo financeiro de um inadimplente não detectado (FN) supera o custo de rejeitar um bom cliente (FP).
SMOTE identifica 75 % dos inadimplentes — mais do que o dobro sem balanceamento.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8076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4055" y="2560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4A35A"/>
                </a:solidFill>
              </a:rPr>
              <a:t>Gabriel Negreiros Saraiva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457200" cy="4572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188720"/>
            <a:ext cx="106097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Convexidade garante solução global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499616"/>
            <a:ext cx="106097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5"/>
                </a:solidFill>
              </a:rPr>
              <a:t>H(θ) ≽ 0 provado analiticamente. GD e Newton convergem ao mesmo θ*, independente do ponto inicial — sem mínimos locais.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39696"/>
            <a:ext cx="457200" cy="4572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157984"/>
            <a:ext cx="106097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Newton supera GD em eficiência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468880"/>
            <a:ext cx="106097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5"/>
                </a:solidFill>
              </a:rPr>
              <a:t>3 vs 35 iterações  (~12×)  ·  0.07 s vs 0.5 s  (~8×). Convergência quadrática vs linear; invariante a κ(H).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127248"/>
            <a:ext cx="106097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Normalização z-score é fundamental para o GD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438144"/>
            <a:ext cx="106097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5"/>
                </a:solidFill>
              </a:rPr>
              <a:t>κ caiu de ~14 bilhões para 12.2. GD: passou de não convergir em 500 iters para convergir em 35. Newton: praticamente insensível (4 → 3 iters).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78224"/>
            <a:ext cx="457200" cy="4572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782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096512"/>
            <a:ext cx="106097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SMOTE melhora significativamente o 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407408"/>
            <a:ext cx="106097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5"/>
                </a:solidFill>
              </a:rPr>
              <a:t>Recall: 29 % → 75 %  ·  F1: 41 % → 57 %  ·  AUC estável ≈ 0.87. Para o negócio bancário, detectar mais inadimplentes supera a queda na precisão.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47488"/>
            <a:ext cx="457200" cy="4572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047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065776"/>
            <a:ext cx="106097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Resultado preditivo sólido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376672"/>
            <a:ext cx="106097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6A5"/>
                </a:solidFill>
              </a:rPr>
              <a:t>AUC-ROC ≈ 0.87 com Newton + SMOTE — considerado muito bom na literatura de crédito. Threshold ótimo F1 = 0.53 no conjunto de teste.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49824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Obrigado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96A5"/>
                </a:solidFill>
              </a:rPr>
              <a:t>Regressão Logística via Otimização Não Linear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3200400"/>
            <a:ext cx="3657600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59612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Gabriel Negreiros Saraiva  ·  Júlia Moraes da Silva  ·  Luiz Eduardo de Almeida Siqueira Silva
Paulo Victor Cordeiro Rufino de Araújo  ·  Pedro Lucas Simões Cabral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1185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96A5"/>
                </a:solidFill>
              </a:rPr>
              <a:t>Prof. Felipe A. G. Moreno  ·  Otimização Não Linear  ·  UFPB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