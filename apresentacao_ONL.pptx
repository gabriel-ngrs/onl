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926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28600"/>
            <a:ext cx="150876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286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8229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Otimização Não Linear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530352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Descida do Gradiente e Método de Newton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Busca em Linha Exata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307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Não Linear  •  Prof. Felipe A. G. Moreno  •  UFPB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1051560" cy="384048"/>
          </a:xfrm>
          <a:prstGeom prst="rect">
            <a:avLst/>
          </a:prstGeom>
          <a:solidFill>
            <a:srgbClr val="FFFFFF">
              <a:alpha val="16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976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4297680"/>
            <a:ext cx="1051560" cy="384048"/>
          </a:xfrm>
          <a:prstGeom prst="rect">
            <a:avLst/>
          </a:prstGeom>
          <a:solidFill>
            <a:srgbClr val="FFFFFF">
              <a:alpha val="16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42976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Júlia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297680"/>
            <a:ext cx="1709928" cy="384048"/>
          </a:xfrm>
          <a:prstGeom prst="rect">
            <a:avLst/>
          </a:prstGeom>
          <a:solidFill>
            <a:srgbClr val="FFFFFF">
              <a:alpha val="16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2976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Lucas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93208" y="4297680"/>
            <a:ext cx="941832" cy="384048"/>
          </a:xfrm>
          <a:prstGeom prst="rect">
            <a:avLst/>
          </a:prstGeom>
          <a:solidFill>
            <a:srgbClr val="FFFFFF">
              <a:alpha val="16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429768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1490472" cy="384048"/>
          </a:xfrm>
          <a:prstGeom prst="rect">
            <a:avLst/>
          </a:prstGeom>
          <a:solidFill>
            <a:srgbClr val="FFFFFF">
              <a:alpha val="16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29768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Negreiros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no crédito causa bilhões em perdas anuais no Brasil e no mundo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automaticamente clientes com risco de não pagar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como classificador binário (inadimplente / adimplente)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formular isso como um problema de otimização não linear?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143000"/>
            <a:ext cx="310896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143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</a:rPr>
              <a:t>10.128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C0E8"/>
                </a:solidFill>
              </a:rPr>
              <a:t>amostras — Dataset UFPB</a:t>
            </a:r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 features de crédito bancário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06440" y="2606040"/>
            <a:ext cx="3108960" cy="1325880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26060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</a:rPr>
              <a:t>30.000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C0E8"/>
                </a:solidFill>
              </a:rPr>
              <a:t>amostras — UCI Credit Card</a:t>
            </a:r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23 features de histórico de pagamentos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806440" y="4069080"/>
            <a:ext cx="3108960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algoritmos comparados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 vs. Newton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Problema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732520" cy="594360"/>
          </a:xfrm>
          <a:prstGeom prst="rect">
            <a:avLst/>
          </a:prstGeom>
          <a:solidFill>
            <a:srgbClr val="E2EAF8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51560"/>
            <a:ext cx="8732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 {(xᵢ, yᵢ)} com yᵢ ∈ {0,1}, encontrar θ* = argmin L(θ)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265176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1783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Logístico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21305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σ(Xθ)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e⁻ᶻ)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2935224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sigmoide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1783080"/>
            <a:ext cx="297180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783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130552"/>
            <a:ext cx="2971800" cy="8046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L(θ) = Cross-Entropy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(λ/2)‖θ‖²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935224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Regularização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265176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783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Convexidade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1305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H(θ) ⪰ 0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mínimo local = global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935224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Hessiana PSD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337560"/>
            <a:ext cx="8732520" cy="713232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337560"/>
            <a:ext cx="8732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L(θ) = −(1/n)Σ[ yᵢ·log(σ(xᵢᵀθ)) + (1−yᵢ)·log(1−σ(xᵢᵀθ)) ] + (λ/2)‖θ₁:‖²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 termo de viés θ₀ não é regularizado (convenção padrão)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convexo — garantia de convergência ao ótimo global!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do Problema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Júlia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420624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07899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1517904"/>
            <a:ext cx="4206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Busca em Linha Exata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Linear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Custo/iter: O(np)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ao κ(H)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06240" cy="1645920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7899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Newton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17904"/>
            <a:ext cx="4206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Busca em Linha Exata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Quadrática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Custo/iter: O(np² + p³)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κ(H)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24528" y="1481328"/>
            <a:ext cx="685800" cy="6858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14813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VS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2880360"/>
            <a:ext cx="8732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Métodos de Busca em Linha implementados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337560"/>
            <a:ext cx="2743200" cy="15727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337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Áurea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3739896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φ ≈ 0.618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avaliação/iter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robusto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3337560"/>
            <a:ext cx="2743200" cy="1572768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337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 Igual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54680" y="3739896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2/3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avaliações/iter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simples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3337560"/>
            <a:ext cx="2743200" cy="1572768"/>
          </a:xfrm>
          <a:prstGeom prst="rect">
            <a:avLst/>
          </a:prstGeom>
          <a:solidFill>
            <a:srgbClr val="3D5F9C"/>
          </a:solidFill>
          <a:ln w="12700">
            <a:solidFill>
              <a:srgbClr val="3D5F9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3337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Quadrático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739896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variável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avaliação/iter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em funções suaves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 com Busca em Linha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Júlia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097280"/>
            <a:ext cx="484632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97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convergência: ‖∇L(θₖ)‖ &lt; tol  →  parar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938528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1938528"/>
            <a:ext cx="484632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38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Direção de descida:  d ← −∇L(θₖ)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779776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2779776"/>
            <a:ext cx="484632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779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em linha:  α* = argmin_α L(θₖ + α·d)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3621024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621024"/>
            <a:ext cx="484632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210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Atualizar:  θₖ₊₁ ← θₖ + α*·d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1097280"/>
            <a:ext cx="297180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0972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1426464"/>
            <a:ext cx="2971800" cy="99669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∇L(θ) = (1/N)·Xᵀ·(σ(Xθ)−y)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λ·[0, θ₁, ..., θₚ]ᵀ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2578608"/>
            <a:ext cx="297180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5786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25786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3172968"/>
            <a:ext cx="297180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1729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Custo/iteração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31729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O(np)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3767328"/>
            <a:ext cx="297180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número κ(H)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3767328"/>
            <a:ext cx="11430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0" y="4361688"/>
            <a:ext cx="297180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3616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Iterações típicas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43616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28600" y="4572000"/>
            <a:ext cx="548640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572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Limitação: comportamento "zigzag" em vales estreitos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Newton com Busca em Linha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Júlia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475488" cy="47548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1078992"/>
            <a:ext cx="489204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078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convergência: ‖∇L(θₖ)‖ &lt; tol  →  parar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1773936"/>
            <a:ext cx="475488" cy="47548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" y="1773936"/>
            <a:ext cx="489204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773936"/>
            <a:ext cx="489204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Computar Hessiana:  H ← H(θₖ)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468880"/>
            <a:ext cx="475488" cy="47548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2468880"/>
            <a:ext cx="489204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468880"/>
            <a:ext cx="489204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Resolver sistema:  (H + εI)·d = −∇L(θₖ)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163824"/>
            <a:ext cx="475488" cy="47548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3163824"/>
            <a:ext cx="489204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63824"/>
            <a:ext cx="489204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em linha:  α* = argmin_α L(θₖ + α·d)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858768"/>
            <a:ext cx="475488" cy="47548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" y="3858768"/>
            <a:ext cx="489204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858768"/>
            <a:ext cx="489204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Atualizar:  θₖ₊₁ ← θₖ + α*·d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0" y="1078992"/>
            <a:ext cx="2971800" cy="1463040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0789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1408176"/>
            <a:ext cx="2971800" cy="113385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H(θ) = (1/N)·Xᵀ·W·X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λ·diag(0,1,...,1)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diag(σᵢ(1−σᵢ))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2697480"/>
            <a:ext cx="297180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974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26974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246120"/>
            <a:ext cx="297180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Custo/iteração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32461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O(np²+p³)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3794760"/>
            <a:ext cx="297180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794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número κ(H)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37947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4343400"/>
            <a:ext cx="297180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43434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Iterações típicas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3434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4617720"/>
            <a:ext cx="54864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 curvatura da função (Hessiana) → elimina zigzag, converge em ~5 iterações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943600" y="46177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&gt; 0 (Tikhonov): estabilidade numérica na inversão da Hessiana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Lucas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1572768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133856"/>
            <a:ext cx="512064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13385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+ one-hot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01368" y="1508760"/>
            <a:ext cx="1828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1097280"/>
            <a:ext cx="1572768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133856"/>
            <a:ext cx="512064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13385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84248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84248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treino / 20% teste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57016" y="1508760"/>
            <a:ext cx="1828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1097280"/>
            <a:ext cx="1572768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0248" y="1133856"/>
            <a:ext cx="512064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113385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39896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39896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no treino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12664" y="1508760"/>
            <a:ext cx="1828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95544" y="1097280"/>
            <a:ext cx="1572768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1133856"/>
            <a:ext cx="512064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113385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95544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95544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e Newton (3 buscas)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68312" y="1508760"/>
            <a:ext cx="1828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1097280"/>
            <a:ext cx="1572768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81544" y="1133856"/>
            <a:ext cx="512064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81544" y="113385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51192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51192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Acc, F1, AUC-ROC, Recall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8600" y="224028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633472"/>
          <a:ext cx="873252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  <a:gridCol w="1828800"/>
                <a:gridCol w="1600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UFPB Crédito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 inadimpl.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Credit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inadimplente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 inadimpl.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228600" y="4069080"/>
            <a:ext cx="8732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Hiperparâmetros:  λ = 0.01 (L2)   |   tolerância = 1×10⁻⁶   |   máx. 1.000 iterações   |   seed = 42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28600" y="4553712"/>
            <a:ext cx="8732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Acurácia  •  Precisão  •  Recall  •  F1-Score  •  AUC-ROC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Implementação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Lucas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411480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789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RegressaoLogistica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517904"/>
            <a:ext cx="411480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17904"/>
            <a:ext cx="4114800" cy="141732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</a:t>
            </a:r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metodo_otimizacao,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metodo_busca,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tmax=1000,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tolerancia=1e-6,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lambda_=0.01)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999232"/>
            <a:ext cx="4114800" cy="329184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9992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Públicos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328416"/>
            <a:ext cx="411480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328416"/>
            <a:ext cx="4114800" cy="10515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fit(X, y)               → treina o modelo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predict(X)              → predições {0, 1}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predict_prob(X)         → P(y=1|x) ∈ [0,1]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078992"/>
            <a:ext cx="429768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789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após fit()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408176"/>
            <a:ext cx="4297680" cy="21031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447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historico_perda_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78040" y="144475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por iteração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77393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historico_norma_grad_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78040" y="177393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do gradiente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historico_alpha_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78040" y="21031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passo 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43230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historico_tempo_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78040" y="24323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acumulado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7614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n_iteracoes_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78040" y="276148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até convergência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090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78040" y="309067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ótimos θ*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11880"/>
            <a:ext cx="429768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17720" y="3611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Numérica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941064"/>
            <a:ext cx="4297680" cy="950976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Sigmoid clipping:  z ∈ [−500, 500]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Prob. clipping:  p ∈ [1e-15, 1−1e-15]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Tikhonov:  H + εI  (ε=1e-8)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Solver: np.linalg.solve (LU)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572000"/>
            <a:ext cx="4114800" cy="347472"/>
          </a:xfrm>
          <a:prstGeom prst="rect">
            <a:avLst/>
          </a:prstGeom>
          <a:solidFill>
            <a:srgbClr val="E2EAF8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572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regressao_log.py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Treino, Teste e Balanceamento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41148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97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 / Teste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508760"/>
            <a:ext cx="3291840" cy="475488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80% TREINO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8229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08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Estratificação por classe — garante proporção de inadimplentes em ambas as partições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670048"/>
            <a:ext cx="4114800" cy="329184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2999232"/>
            <a:ext cx="4114800" cy="86868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Z-score:  x̂ = (x − μ) / σ   →   μ=0, σ=1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encoding para variáveis categóricas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Aplicado separadamente em treino e teste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4297680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97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— SMOTE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508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SMOTE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810512"/>
            <a:ext cx="3209544" cy="347472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810512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78% Adimplentes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18704" y="1810512"/>
            <a:ext cx="9144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2311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SMOTE (treino)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532888"/>
            <a:ext cx="2130552" cy="347472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532888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50% Adimpl.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9712" y="2532888"/>
            <a:ext cx="199339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25328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50% Inadiml.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999232"/>
            <a:ext cx="4297680" cy="138988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999232"/>
            <a:ext cx="4297680" cy="1389888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gera amostras sintéticas interpolando entre vizinhos da classe minoritária, equilibrando o treino sem duplicar dados reais.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Aplicado apenas no treino — nunca no teste!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" y="4572000"/>
            <a:ext cx="8732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+8–12% no Recall de inadimplentes com SMOTE ativado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Convergência dos Algoritmos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Negreiros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97280"/>
          <a:ext cx="8732520" cy="265176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28803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Descida do Gradiente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de Newton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Iterações até convergência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(não converge)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iterações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convergência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Quadrática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Sensível ao κ(H)?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iteração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O(np) — baixo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O(np²+p³) — 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total relativo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 mais rápido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886200"/>
            <a:ext cx="873252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8600" y="3886200"/>
            <a:ext cx="8732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converge em ~5 iterações vs 500+ da Descida do Gradiente → 5–10× mais rápido no total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8600" y="4617720"/>
            <a:ext cx="8732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quadrática do Newton compensa o maior custo por iteração, sendo dramaticamente superior para este problema.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Desempenho Classificatório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560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Negreiros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1572768" cy="12984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11556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82–85%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1078992"/>
            <a:ext cx="1572768" cy="1298448"/>
          </a:xfrm>
          <a:prstGeom prst="rect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84248" y="111556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84248" y="18288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9896" y="1078992"/>
            <a:ext cx="1572768" cy="1298448"/>
          </a:xfrm>
          <a:prstGeom prst="rect">
            <a:avLst/>
          </a:prstGeom>
          <a:solidFill>
            <a:srgbClr val="3D5F9C"/>
          </a:solidFill>
          <a:ln w="12700">
            <a:solidFill>
              <a:srgbClr val="3D5F9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9896" y="111556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63–68%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39896" y="18288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95544" y="1078992"/>
            <a:ext cx="1572768" cy="12984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11556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67–72%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95544" y="18288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51192" y="1078992"/>
            <a:ext cx="1572768" cy="1298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1192" y="111556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86–90%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51192" y="18288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251460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Credit Card Dataset — Método de Newton + Seção Áurea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52928"/>
            <a:ext cx="8732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852928"/>
            <a:ext cx="8732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dos Resultados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3246120"/>
            <a:ext cx="873252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30098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32461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melhorou o Recall em +8–12% na detecção de inadimplentes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685032"/>
            <a:ext cx="8732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3989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36850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atingiu loss menor que Descida do Gradiente em 100% das execuções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4123944"/>
            <a:ext cx="873252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17880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" y="41239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Áurea: método de busca mais robusto — 1 avaliação por iteração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28600" y="4562856"/>
            <a:ext cx="8732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617720"/>
            <a:ext cx="292608" cy="292608"/>
          </a:xfrm>
          <a:prstGeom prst="ellipse">
            <a:avLst/>
          </a:prstGeom>
          <a:solidFill>
            <a:srgbClr val="2B4A8B"/>
          </a:solidFill>
          <a:ln w="12700">
            <a:solidFill>
              <a:srgbClr val="2B4A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" y="456285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85% confirma capacidade discriminatória competitiva do modelo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560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28600"/>
            <a:ext cx="155448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228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Negreiros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atingidos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formulada como problema de otimização não linear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91109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1911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e Newton implementados do zero com busca em linha exata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4048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24048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empírica rigorosa em dois datasets reais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8986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2898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85% — desempenho classificatório competitivo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Aprendizados-chave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5×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Newton converge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vs 500+ do GD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14173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90%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AUC-ROC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com Newton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+12%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Recall ganho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com SMOTE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237744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avaliação/iter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E8"/>
                </a:solidFill>
              </a:rPr>
              <a:t>Seção Áurea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4315968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15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C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futuros:  mini-batch SGD   •   quasi-Newton (L-BFGS)   •   busca inexata (Armijo/Wolfe)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4008" cy="41833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UFPB • ONL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7325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97280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Nocedal, J. &amp; Wright, S. J.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(2006) </a:t>
            </a:r>
            <a:pPr indent="0" marL="0">
              <a:buNone/>
            </a:pPr>
            <a:r>
              <a:rPr lang="en-US" sz="1250" i="1" dirty="0">
                <a:solidFill>
                  <a:srgbClr val="2B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Springer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1865376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65376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8503920" cy="6583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Bishop, C. M.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(2006) </a:t>
            </a:r>
            <a:pPr indent="0" marL="0">
              <a:buNone/>
            </a:pPr>
            <a:r>
              <a:rPr lang="en-US" sz="1250" i="1" dirty="0">
                <a:solidFill>
                  <a:srgbClr val="2B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and Machine Learning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Springer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2633472"/>
            <a:ext cx="87325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33472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334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Boyd, S. &amp; Vandenberghe, L.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(2004) </a:t>
            </a:r>
            <a:pPr indent="0" marL="0">
              <a:buNone/>
            </a:pPr>
            <a:r>
              <a:rPr lang="en-US" sz="1250" i="1" dirty="0">
                <a:solidFill>
                  <a:srgbClr val="2B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Optimization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Cambridge University Press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3401568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401568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Chawla, N. V. et al.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(2002) </a:t>
            </a:r>
            <a:pPr indent="0" marL="0">
              <a:buNone/>
            </a:pPr>
            <a:r>
              <a:rPr lang="en-US" sz="1250" i="1" dirty="0">
                <a:solidFill>
                  <a:srgbClr val="2B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SMOTE: Synthetic Minority Over-sampling Technique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Journal of AI Research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8600" y="4169664"/>
            <a:ext cx="87325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169664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69664"/>
            <a:ext cx="8503920" cy="6583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250" i="1" dirty="0">
                <a:solidFill>
                  <a:srgbClr val="2B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 Credit Card Clients Dataset</a:t>
            </a:r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Regressão Logística via Otimização Não Linear</dc:title>
  <dc:subject>PptxGenJS Presentation</dc:subject>
  <dc:creator>PptxGenJS</dc:creator>
  <cp:lastModifiedBy>PptxGenJS</cp:lastModifiedBy>
  <cp:revision>1</cp:revision>
  <dcterms:created xsi:type="dcterms:W3CDTF">2026-03-27T22:48:18Z</dcterms:created>
  <dcterms:modified xsi:type="dcterms:W3CDTF">2026-03-27T22:48:18Z</dcterms:modified>
</cp:coreProperties>
</file>